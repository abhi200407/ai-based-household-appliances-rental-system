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4114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Segoe UI"/>
              </a:rPr>
              <a:t>SDC-II  PROJECT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315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AI-Powered Household
Appliance Rental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834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9BB8"/>
                </a:solidFill>
                <a:latin typeface="Segoe UI"/>
              </a:rPr>
              <a:t>Full-Stack Web Application with 3 AI / ML 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401568"/>
            <a:ext cx="2286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434840"/>
            <a:ext cx="3749039" cy="475488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434840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44988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Django + React + MongoDB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4434840"/>
            <a:ext cx="3749039" cy="475488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4434840"/>
            <a:ext cx="109728" cy="47548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44988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scikit-learn + Prophet + SVD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59" y="4434840"/>
            <a:ext cx="3749039" cy="475488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59" y="4434840"/>
            <a:ext cx="109728" cy="475488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1" y="44988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KMIT CSE  |  Sem V  |  2025-26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166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Segoe UI"/>
              </a:rPr>
              <a:t>Team: [Names]   |   Mentor: [Name]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54864"/>
          </a:xfrm>
          <a:prstGeom prst="rect">
            <a:avLst/>
          </a:prstGeom>
          <a:solidFill>
            <a:srgbClr val="009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Segoe UI"/>
              </a:rPr>
              <a:t>SLIDE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5214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Segoe UI"/>
              </a:rPr>
              <a:t>The gap in the market that our platform fills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5669280" cy="5120640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669280" cy="502920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642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80C14"/>
                </a:solidFill>
                <a:latin typeface="Segoe UI"/>
              </a:rPr>
              <a:t>Current Problems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5394960" cy="100584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40280"/>
            <a:ext cx="64008" cy="1005840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1343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3C7C"/>
                </a:solidFill>
                <a:latin typeface="Segoe UI"/>
              </a:rPr>
              <a:t>Buying appliances is expensive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Segoe UI"/>
              </a:rPr>
              <a:t>Students / migrants / expats cannot afford full purchase price for short stays.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37560"/>
            <a:ext cx="5394960" cy="100584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64008" cy="1005840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1071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3C7C"/>
                </a:solidFill>
                <a:latin typeface="Segoe UI"/>
              </a:rPr>
              <a:t>Existing rental options are primitive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4904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Segoe UI"/>
              </a:rPr>
              <a:t>Only basic classified ads — no trust, no smart features, no personalization.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34840"/>
            <a:ext cx="5394960" cy="100584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434840"/>
            <a:ext cx="64008" cy="1005840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0799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3C7C"/>
                </a:solidFill>
                <a:latin typeface="Segoe UI"/>
              </a:rPr>
              <a:t>Zero business intelligence for owners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Segoe UI"/>
              </a:rPr>
              <a:t>Owners cannot predict demand or plan inventory.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32120"/>
            <a:ext cx="5394960" cy="100584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532120"/>
            <a:ext cx="64008" cy="1005840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60527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03C7C"/>
                </a:solidFill>
                <a:latin typeface="Segoe UI"/>
              </a:rPr>
              <a:t>No customer retention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4360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Segoe UI"/>
              </a:rPr>
              <a:t>No way to identify which customers are about to leave the platform.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1600200"/>
            <a:ext cx="5669280" cy="5120640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1600200"/>
            <a:ext cx="5669280" cy="50292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16642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80C14"/>
                </a:solidFill>
                <a:latin typeface="Segoe UI"/>
              </a:rPr>
              <a:t>Our Proposed 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240280"/>
            <a:ext cx="5394960" cy="100584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2240280"/>
            <a:ext cx="64008" cy="10058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231343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E"/>
                </a:solidFill>
                <a:latin typeface="Segoe UI"/>
              </a:rPr>
              <a:t>Affordable daily rental marketplace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65176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Segoe UI"/>
              </a:rPr>
              <a:t>Tenants pay per day — not the full appliance price. Accessible to everyone.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337560"/>
            <a:ext cx="5394960" cy="100584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3337560"/>
            <a:ext cx="64008" cy="10058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41071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E"/>
                </a:solidFill>
                <a:latin typeface="Segoe UI"/>
              </a:rPr>
              <a:t>AI-powered personalization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74904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Segoe UI"/>
              </a:rPr>
              <a:t>Smart recommendations based on each tenant's history and preferences.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434840"/>
            <a:ext cx="5394960" cy="100584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4434840"/>
            <a:ext cx="64008" cy="10058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50799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E"/>
                </a:solidFill>
                <a:latin typeface="Segoe UI"/>
              </a:rPr>
              <a:t>30-day demand forecasting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84632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Segoe UI"/>
              </a:rPr>
              <a:t>Prophet ML model predicts which appliances will be in demand next month.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5532120"/>
            <a:ext cx="5394960" cy="100584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92240" y="5532120"/>
            <a:ext cx="64008" cy="10058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560527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E"/>
                </a:solidFill>
                <a:latin typeface="Segoe UI"/>
              </a:rPr>
              <a:t>Churn prediction alerts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94360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E"/>
                </a:solidFill>
                <a:latin typeface="Segoe UI"/>
              </a:rPr>
              <a:t>Admin sees a list of at-risk customers so they can take retention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54864"/>
          </a:xfrm>
          <a:prstGeom prst="rect">
            <a:avLst/>
          </a:prstGeom>
          <a:solidFill>
            <a:srgbClr val="E1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Segoe UI"/>
              </a:rPr>
              <a:t>SLIDE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Database Design  —  MongoDB Collections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5214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Segoe UI"/>
              </a:rPr>
              <a:t>6 NoSQL documents, their fields, types and relationships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3703320" cy="346557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370332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0C14"/>
                </a:solidFill>
                <a:latin typeface="Segoe UI Semibold"/>
              </a:rPr>
              <a:t>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75688"/>
            <a:ext cx="3703320" cy="35661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214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Segoe UI"/>
              </a:rPr>
              <a:t>_id  (PK)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32304"/>
            <a:ext cx="3703320" cy="35661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780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email  (unique)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88920"/>
            <a:ext cx="3703320" cy="35661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346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password  (hashed)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145536"/>
            <a:ext cx="3703320" cy="35661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912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full_name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502152"/>
            <a:ext cx="3703320" cy="35661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47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role  (admin/owner/tenant)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858768"/>
            <a:ext cx="3703320" cy="35661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044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phone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215383"/>
            <a:ext cx="3703320" cy="35661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61103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address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572000"/>
            <a:ext cx="3703320" cy="35661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617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date_joined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1600200"/>
            <a:ext cx="3703320" cy="346557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1600200"/>
            <a:ext cx="3703320" cy="47548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164592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0C14"/>
                </a:solidFill>
                <a:latin typeface="Segoe UI Semibold"/>
              </a:rPr>
              <a:t>appliances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2075688"/>
            <a:ext cx="3703320" cy="35661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21214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Segoe UI"/>
              </a:rPr>
              <a:t>_id  (PK)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2432304"/>
            <a:ext cx="3703320" cy="35661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24780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3C7C"/>
                </a:solidFill>
                <a:latin typeface="Segoe UI"/>
              </a:rPr>
              <a:t>owner_id  → users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788920"/>
            <a:ext cx="3703320" cy="35661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28346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name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145536"/>
            <a:ext cx="3703320" cy="35661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31912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category  (AC/Fridge/...)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3502152"/>
            <a:ext cx="3703320" cy="35661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3547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price_per_day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43400" y="3858768"/>
            <a:ext cx="3703320" cy="35661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39044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images  (list of paths)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4215383"/>
            <a:ext cx="3703320" cy="35661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0" y="4261103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location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4572000"/>
            <a:ext cx="3703320" cy="35661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4617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available  (bool)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19" y="1600200"/>
            <a:ext cx="3703320" cy="346557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75319" y="1600200"/>
            <a:ext cx="3703320" cy="475488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164592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0C14"/>
                </a:solidFill>
                <a:latin typeface="Segoe UI Semibold"/>
              </a:rPr>
              <a:t>bookings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19" y="2075688"/>
            <a:ext cx="3703320" cy="35661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0" y="21214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Segoe UI"/>
              </a:rPr>
              <a:t>_id  (PK)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75319" y="2432304"/>
            <a:ext cx="3703320" cy="35661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24780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3C7C"/>
                </a:solidFill>
                <a:latin typeface="Segoe UI"/>
              </a:rPr>
              <a:t>tenant_id  → users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19" y="2788920"/>
            <a:ext cx="3703320" cy="35661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0" y="28346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3C7C"/>
                </a:solidFill>
                <a:latin typeface="Segoe UI"/>
              </a:rPr>
              <a:t>appliance_id  → appliances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19" y="3145536"/>
            <a:ext cx="3703320" cy="35661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0" y="31912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start_date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75319" y="3502152"/>
            <a:ext cx="3703320" cy="35661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0" y="3547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end_date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75319" y="3858768"/>
            <a:ext cx="3703320" cy="35661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12480" y="39044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status  (requested/approved/...)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75319" y="4215383"/>
            <a:ext cx="3703320" cy="35661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12480" y="4261103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total_amount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75319" y="4572000"/>
            <a:ext cx="3703320" cy="35661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0" y="4617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created_at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4617720"/>
            <a:ext cx="3703320" cy="2432304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11480" y="4617720"/>
            <a:ext cx="3703320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46634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0C14"/>
                </a:solidFill>
                <a:latin typeface="Segoe UI Semibold"/>
              </a:rPr>
              <a:t>recommendation_logs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5001768"/>
            <a:ext cx="3703320" cy="31089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503834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300"/>
                </a:solidFill>
                <a:latin typeface="Segoe UI"/>
              </a:rPr>
              <a:t>_id  (PK)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312664"/>
            <a:ext cx="3703320" cy="31089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534924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3C7C"/>
                </a:solidFill>
                <a:latin typeface="Segoe UI"/>
              </a:rPr>
              <a:t>tenant_id  → users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5623559"/>
            <a:ext cx="3703320" cy="31089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" y="566013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3C7C"/>
                </a:solidFill>
                <a:latin typeface="Segoe UI"/>
              </a:rPr>
              <a:t>appliance_id  → appliances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5934456"/>
            <a:ext cx="3703320" cy="31089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5971032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score  (cosine/SVD float)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6245352"/>
            <a:ext cx="3703320" cy="31089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628192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method  (content/collaborative)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6556248"/>
            <a:ext cx="3703320" cy="31089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8640" y="659282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generated_at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43400" y="4617720"/>
            <a:ext cx="3703320" cy="2432304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343400" y="4617720"/>
            <a:ext cx="3703320" cy="384048"/>
          </a:xfrm>
          <a:prstGeom prst="rect">
            <a:avLst/>
          </a:prstGeom>
          <a:solidFill>
            <a:srgbClr val="A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80560" y="46634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0C14"/>
                </a:solidFill>
                <a:latin typeface="Segoe UI Semibold"/>
              </a:rPr>
              <a:t>demand_forecasts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343400" y="5001768"/>
            <a:ext cx="3703320" cy="31089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80560" y="503834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300"/>
                </a:solidFill>
                <a:latin typeface="Segoe UI"/>
              </a:rPr>
              <a:t>_id  (PK)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43400" y="5312664"/>
            <a:ext cx="3703320" cy="31089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480560" y="534924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category  (AC/Fridge/...)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343400" y="5623559"/>
            <a:ext cx="3703320" cy="31089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80560" y="566013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forecast_date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43400" y="5934456"/>
            <a:ext cx="3703320" cy="31089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480560" y="5971032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predicted_units  (float)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43400" y="6245352"/>
            <a:ext cx="3703320" cy="31089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480560" y="628192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model_version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43400" y="6556248"/>
            <a:ext cx="3703320" cy="31089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80560" y="659282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generated_at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75319" y="4617720"/>
            <a:ext cx="3703320" cy="305409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75319" y="4617720"/>
            <a:ext cx="3703320" cy="384048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12480" y="46634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0C14"/>
                </a:solidFill>
                <a:latin typeface="Segoe UI Semibold"/>
              </a:rPr>
              <a:t>churn_scores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275319" y="5001768"/>
            <a:ext cx="3703320" cy="31089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412480" y="503834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300"/>
                </a:solidFill>
                <a:latin typeface="Segoe UI"/>
              </a:rPr>
              <a:t>_id  (PK)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275319" y="5312664"/>
            <a:ext cx="3703320" cy="31089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12480" y="534924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3C7C"/>
                </a:solidFill>
                <a:latin typeface="Segoe UI"/>
              </a:rPr>
              <a:t>tenant_id  → users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275319" y="5623559"/>
            <a:ext cx="3703320" cy="31089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412480" y="566013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risk_score  (0.0 - 1.0)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275319" y="5934456"/>
            <a:ext cx="3703320" cy="31089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412480" y="5971032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risk_level  (Low/Med/High)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275319" y="6245352"/>
            <a:ext cx="3703320" cy="31089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412480" y="628192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recency_days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275319" y="6556248"/>
            <a:ext cx="3703320" cy="31089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412480" y="659282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frequency_count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275319" y="6867144"/>
            <a:ext cx="3703320" cy="310896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412480" y="690372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monetary_total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275319" y="7178040"/>
            <a:ext cx="3703320" cy="310896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412480" y="721461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E"/>
                </a:solidFill>
                <a:latin typeface="Segoe UI"/>
              </a:rPr>
              <a:t>calculated_at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54864"/>
          </a:xfrm>
          <a:prstGeom prst="rect">
            <a:avLst/>
          </a:prstGeom>
          <a:solidFill>
            <a:srgbClr val="00B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  <a:latin typeface="Segoe UI"/>
              </a:rPr>
              <a:t>SLIDE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Entity Relationship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5214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Segoe UI"/>
              </a:rPr>
              <a:t>How all 6 MongoDB collections relate to each other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11338560" cy="5166360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783080"/>
            <a:ext cx="288036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10512"/>
            <a:ext cx="2880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C14"/>
                </a:solidFill>
                <a:latin typeface="Segoe UI Semibold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9BB8"/>
                </a:solidFill>
                <a:latin typeface="Segoe UI"/>
              </a:rPr>
              <a:t>_id  |  email  |  role  |  full_name  |  date_joined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2697480"/>
            <a:ext cx="73152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3108960"/>
            <a:ext cx="9418320" cy="54864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337560"/>
            <a:ext cx="3200400" cy="5486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55848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C14"/>
                </a:solidFill>
                <a:latin typeface="Segoe UI Semibold"/>
              </a:rPr>
              <a:t>appliances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0448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8"/>
                </a:solidFill>
                <a:latin typeface="Segoe UI"/>
              </a:rPr>
              <a:t>owner_id -&gt; users._id
name | category | price_per_day | images | available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108960"/>
            <a:ext cx="54864" cy="2286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5468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300"/>
                </a:solidFill>
                <a:latin typeface="Segoe UI"/>
              </a:rPr>
              <a:t>1:N  (owns)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337560"/>
            <a:ext cx="3246120" cy="54864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355848"/>
            <a:ext cx="3246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80C14"/>
                </a:solidFill>
                <a:latin typeface="Segoe UI Semibold"/>
              </a:rPr>
              <a:t>bookings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904487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8"/>
                </a:solidFill>
                <a:latin typeface="Segoe UI"/>
              </a:rPr>
              <a:t>tenant_id -&gt; users | appliance_id -&gt; appliances
start_date | end_date | status | total_amount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53328" y="3108960"/>
            <a:ext cx="54864" cy="22860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15468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D67E"/>
                </a:solidFill>
                <a:latin typeface="Segoe UI"/>
              </a:rPr>
              <a:t>1:N  (rents)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3913632"/>
            <a:ext cx="54864" cy="34747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0" y="4251960"/>
            <a:ext cx="6720840" cy="54864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480560"/>
            <a:ext cx="3200400" cy="5303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498848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0C14"/>
                </a:solidFill>
                <a:latin typeface="Segoe UI Semibold"/>
              </a:rPr>
              <a:t>recommendation_logs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8"/>
                </a:solidFill>
                <a:latin typeface="Segoe UI"/>
              </a:rPr>
              <a:t>tenant_id | appliance_id | score | method | generated_at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4251960"/>
            <a:ext cx="54864" cy="228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2793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B35"/>
                </a:solidFill>
                <a:latin typeface="Segoe UI"/>
              </a:rPr>
              <a:t>1:N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0" y="4480560"/>
            <a:ext cx="3246120" cy="530352"/>
          </a:xfrm>
          <a:prstGeom prst="rect">
            <a:avLst/>
          </a:prstGeom>
          <a:solidFill>
            <a:srgbClr val="A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498848"/>
            <a:ext cx="3246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0C14"/>
                </a:solidFill>
                <a:latin typeface="Segoe UI Semibold"/>
              </a:rPr>
              <a:t>demand_forecasts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0292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8"/>
                </a:solidFill>
                <a:latin typeface="Segoe UI"/>
              </a:rPr>
              <a:t>category | forecast_date | predicted_units
(standalone — no FK to users)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53328" y="4251960"/>
            <a:ext cx="54864" cy="228600"/>
          </a:xfrm>
          <a:prstGeom prst="rect">
            <a:avLst/>
          </a:prstGeom>
          <a:solidFill>
            <a:srgbClr val="A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427939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B5CFF"/>
                </a:solidFill>
                <a:latin typeface="Segoe UI"/>
              </a:rPr>
              <a:t>standalone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4480560"/>
            <a:ext cx="3200400" cy="530352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4498848"/>
            <a:ext cx="3200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0C14"/>
                </a:solidFill>
                <a:latin typeface="Segoe UI Semibold"/>
              </a:rPr>
              <a:t>churn_scores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8"/>
                </a:solidFill>
                <a:latin typeface="Segoe UI"/>
              </a:rPr>
              <a:t>tenant_id | risk_score | risk_level | RFM | calculated_at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4251960"/>
            <a:ext cx="54864" cy="228600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42793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3C7C"/>
                </a:solidFill>
                <a:latin typeface="Segoe UI"/>
              </a:rPr>
              <a:t>1:1/tenant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309360"/>
            <a:ext cx="11338560" cy="41148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6382512"/>
            <a:ext cx="164592" cy="16459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63733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8"/>
                </a:solidFill>
                <a:latin typeface="Segoe UI"/>
              </a:rPr>
              <a:t>Primary Key (PK)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80" y="6382512"/>
            <a:ext cx="164592" cy="164592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1880" y="63733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8"/>
                </a:solidFill>
                <a:latin typeface="Segoe UI"/>
              </a:rPr>
              <a:t>Foreign Key (FK  -&gt;)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6382512"/>
            <a:ext cx="164592" cy="16459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63733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8"/>
                </a:solidFill>
                <a:latin typeface="Segoe UI"/>
              </a:rPr>
              <a:t>1:N  one-to-many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6382512"/>
            <a:ext cx="164592" cy="164592"/>
          </a:xfrm>
          <a:prstGeom prst="rect">
            <a:avLst/>
          </a:prstGeom>
          <a:solidFill>
            <a:srgbClr val="A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63733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8"/>
                </a:solidFill>
                <a:latin typeface="Segoe UI"/>
              </a:rPr>
              <a:t>Standalone collection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54864"/>
          </a:xfrm>
          <a:prstGeom prst="rect">
            <a:avLst/>
          </a:prstGeom>
          <a:solidFill>
            <a:srgbClr val="E14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Segoe UI"/>
              </a:rPr>
              <a:t>SLIDE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Data Collection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5214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Segoe UI"/>
              </a:rPr>
              <a:t>Which frontend page triggers what action and writes to which MongoDB collection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572768"/>
          <a:ext cx="1133855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0940"/>
                <a:gridCol w="2494483"/>
                <a:gridCol w="4195267"/>
                <a:gridCol w="2607868"/>
              </a:tblGrid>
              <a:tr h="5689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</a:pPr>
                      <a:r>
                        <a:rPr sz="1200" b="1">
                          <a:solidFill>
                            <a:srgbClr val="080C14"/>
                          </a:solidFill>
                          <a:latin typeface="Segoe UI"/>
                        </a:rPr>
                        <a:t>Page / Screen</a:t>
                      </a:r>
                    </a:p>
                  </a:txBody>
                  <a:tcPr>
                    <a:solidFill>
                      <a:srgbClr val="FF6B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</a:pPr>
                      <a:r>
                        <a:rPr sz="1200" b="1">
                          <a:solidFill>
                            <a:srgbClr val="080C14"/>
                          </a:solidFill>
                          <a:latin typeface="Segoe UI"/>
                        </a:rPr>
                        <a:t>User Action</a:t>
                      </a:r>
                    </a:p>
                  </a:txBody>
                  <a:tcPr>
                    <a:solidFill>
                      <a:srgbClr val="FF6B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</a:pPr>
                      <a:r>
                        <a:rPr sz="1200" b="1">
                          <a:solidFill>
                            <a:srgbClr val="080C14"/>
                          </a:solidFill>
                          <a:latin typeface="Segoe UI"/>
                        </a:rPr>
                        <a:t>Fields Captured</a:t>
                      </a:r>
                    </a:p>
                  </a:txBody>
                  <a:tcPr>
                    <a:solidFill>
                      <a:srgbClr val="FF6B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200"/>
                        </a:spcBef>
                      </a:pPr>
                      <a:r>
                        <a:rPr sz="1200" b="1">
                          <a:solidFill>
                            <a:srgbClr val="080C14"/>
                          </a:solidFill>
                          <a:latin typeface="Segoe UI"/>
                        </a:rPr>
                        <a:t>Stored In</a:t>
                      </a:r>
                    </a:p>
                  </a:txBody>
                  <a:tcPr>
                    <a:solidFill>
                      <a:srgbClr val="FF6B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Register / Login</a:t>
                      </a:r>
                    </a:p>
                  </a:txBody>
                  <a:tcPr>
                    <a:solidFill>
                      <a:srgbClr val="1721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Fill email, password, select role</a:t>
                      </a:r>
                    </a:p>
                  </a:txBody>
                  <a:tcPr>
                    <a:solidFill>
                      <a:srgbClr val="1721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email, password (hashed), full_name, role, phone</a:t>
                      </a:r>
                    </a:p>
                  </a:txBody>
                  <a:tcPr>
                    <a:solidFill>
                      <a:srgbClr val="1721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users</a:t>
                      </a:r>
                    </a:p>
                  </a:txBody>
                  <a:tcPr>
                    <a:solidFill>
                      <a:srgbClr val="1721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Tenant Home</a:t>
                      </a:r>
                    </a:p>
                  </a:txBody>
                  <a:tcPr>
                    <a:solidFill>
                      <a:srgbClr val="080C14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Browses, clicks appliances</a:t>
                      </a:r>
                    </a:p>
                  </a:txBody>
                  <a:tcPr>
                    <a:solidFill>
                      <a:srgbClr val="080C14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Implicit view event (appliance_id, tenant_id)</a:t>
                      </a:r>
                    </a:p>
                  </a:txBody>
                  <a:tcPr>
                    <a:solidFill>
                      <a:srgbClr val="080C14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recommendation_logs</a:t>
                      </a:r>
                    </a:p>
                  </a:txBody>
                  <a:tcPr>
                    <a:solidFill>
                      <a:srgbClr val="080C14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Appliance Detail</a:t>
                      </a:r>
                    </a:p>
                  </a:txBody>
                  <a:tcPr>
                    <a:solidFill>
                      <a:srgbClr val="1721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Views appliance page</a:t>
                      </a:r>
                    </a:p>
                  </a:txBody>
                  <a:tcPr>
                    <a:solidFill>
                      <a:srgbClr val="1721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appliance_id viewed, timestamp</a:t>
                      </a:r>
                    </a:p>
                  </a:txBody>
                  <a:tcPr>
                    <a:solidFill>
                      <a:srgbClr val="1721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recommendation_logs</a:t>
                      </a:r>
                    </a:p>
                  </a:txBody>
                  <a:tcPr>
                    <a:solidFill>
                      <a:srgbClr val="1721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Book / Rent Page</a:t>
                      </a:r>
                    </a:p>
                  </a:txBody>
                  <a:tcPr>
                    <a:solidFill>
                      <a:srgbClr val="080C14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Picks dates, submits booking</a:t>
                      </a:r>
                    </a:p>
                  </a:txBody>
                  <a:tcPr>
                    <a:solidFill>
                      <a:srgbClr val="080C14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tenant_id, appliance_id, start/end date, total_amount</a:t>
                      </a:r>
                    </a:p>
                  </a:txBody>
                  <a:tcPr>
                    <a:solidFill>
                      <a:srgbClr val="080C14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bookings</a:t>
                      </a:r>
                    </a:p>
                  </a:txBody>
                  <a:tcPr>
                    <a:solidFill>
                      <a:srgbClr val="080C14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Owner — Add Appliance</a:t>
                      </a:r>
                    </a:p>
                  </a:txBody>
                  <a:tcPr>
                    <a:solidFill>
                      <a:srgbClr val="1721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Fills form, uploads images</a:t>
                      </a:r>
                    </a:p>
                  </a:txBody>
                  <a:tcPr>
                    <a:solidFill>
                      <a:srgbClr val="1721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name, category, price_per_day, images, location, owner_id</a:t>
                      </a:r>
                    </a:p>
                  </a:txBody>
                  <a:tcPr>
                    <a:solidFill>
                      <a:srgbClr val="1721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appliances</a:t>
                      </a:r>
                    </a:p>
                  </a:txBody>
                  <a:tcPr>
                    <a:solidFill>
                      <a:srgbClr val="1721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Owner — Manage Bookings</a:t>
                      </a:r>
                    </a:p>
                  </a:txBody>
                  <a:tcPr>
                    <a:solidFill>
                      <a:srgbClr val="080C14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Approves or rejects request</a:t>
                      </a:r>
                    </a:p>
                  </a:txBody>
                  <a:tcPr>
                    <a:solidFill>
                      <a:srgbClr val="080C14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booking _id, status change</a:t>
                      </a:r>
                    </a:p>
                  </a:txBody>
                  <a:tcPr>
                    <a:solidFill>
                      <a:srgbClr val="080C14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bookings (status update)</a:t>
                      </a:r>
                    </a:p>
                  </a:txBody>
                  <a:tcPr>
                    <a:solidFill>
                      <a:srgbClr val="080C14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Admin — Dashboard load</a:t>
                      </a:r>
                    </a:p>
                  </a:txBody>
                  <a:tcPr>
                    <a:solidFill>
                      <a:srgbClr val="1721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Page opens (auto)</a:t>
                      </a:r>
                    </a:p>
                  </a:txBody>
                  <a:tcPr>
                    <a:solidFill>
                      <a:srgbClr val="1721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Reads bookings -&gt; computes RFM scores per tenant</a:t>
                      </a:r>
                    </a:p>
                  </a:txBody>
                  <a:tcPr>
                    <a:solidFill>
                      <a:srgbClr val="1721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churn_scores</a:t>
                      </a:r>
                    </a:p>
                  </a:txBody>
                  <a:tcPr>
                    <a:solidFill>
                      <a:srgbClr val="172135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Admin — Forecast view</a:t>
                      </a:r>
                    </a:p>
                  </a:txBody>
                  <a:tcPr>
                    <a:solidFill>
                      <a:srgbClr val="080C14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Page opens (auto)</a:t>
                      </a:r>
                    </a:p>
                  </a:txBody>
                  <a:tcPr>
                    <a:solidFill>
                      <a:srgbClr val="080C14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Reads bookings history by category</a:t>
                      </a:r>
                    </a:p>
                  </a:txBody>
                  <a:tcPr>
                    <a:solidFill>
                      <a:srgbClr val="080C14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200"/>
                        </a:spcBef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Segoe UI"/>
                        </a:rPr>
                        <a:t>demand_forecasts</a:t>
                      </a:r>
                    </a:p>
                  </a:txBody>
                  <a:tcPr>
                    <a:solidFill>
                      <a:srgbClr val="080C14"/>
                    </a:solidFill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54864"/>
          </a:xfrm>
          <a:prstGeom prst="rect">
            <a:avLst/>
          </a:prstGeom>
          <a:solidFill>
            <a:srgbClr val="009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Segoe UI"/>
              </a:rPr>
              <a:t>SLIDE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AI Module 1  —  Recommendation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5214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Segoe UI"/>
              </a:rPr>
              <a:t>How we plan to recommend the right appliance to each tenant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5577840" cy="5166360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Segoe UI Semibold"/>
              </a:rPr>
              <a:t>Step-by-Step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029968"/>
            <a:ext cx="5577840" cy="3657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39696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39696"/>
            <a:ext cx="64008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945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 Semibold"/>
              </a:rPr>
              <a:t>1. Data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4688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Kaggle 'Personalized Recommendation Systems'
dataset — categories relabeled to AC / Fridge / TV etc.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07791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07791"/>
            <a:ext cx="64008" cy="71323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296265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Segoe UI Semibold"/>
              </a:rPr>
              <a:t>2. Feature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236975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From appliances collection: category, price_per_day.
Build an item feature matrix per appliance.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75887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675887"/>
            <a:ext cx="64008" cy="71323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3730751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  <a:latin typeface="Segoe UI Semibold"/>
              </a:rPr>
              <a:t>3. Content-Based Filtering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0050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Compute cosine similarity between tenant's past
booking features and all available appliances.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43983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443983"/>
            <a:ext cx="64008" cy="7132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498847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 Semibold"/>
              </a:rPr>
              <a:t>4. Collaborative Filtering (SVD)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47731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Surprise library SVD: finds tenants with similar
booking history, recommends what they rented.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12079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212079"/>
            <a:ext cx="64008" cy="713232"/>
          </a:xfrm>
          <a:prstGeom prst="rect">
            <a:avLst/>
          </a:prstGeom>
          <a:solidFill>
            <a:srgbClr val="A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266943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B5CFF"/>
                </a:solidFill>
                <a:latin typeface="Segoe UI Semibold"/>
              </a:rPr>
              <a:t>5. Hybrid Score &amp; Ranking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554126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Content score + SVD score blended. Top-N
appliances selected per tenant ID.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80176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980176"/>
            <a:ext cx="64008" cy="713232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603504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3C7C"/>
                </a:solidFill>
                <a:latin typeface="Segoe UI Semibold"/>
              </a:rPr>
              <a:t>6. Store &amp; Serve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6309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Results saved to recommendation_logs collection.
Served via  GET /api/recommend/&lt;tenant_id&gt;/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1572768"/>
            <a:ext cx="5532120" cy="5166360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164592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Segoe UI Semibold"/>
              </a:rPr>
              <a:t>Data 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029968"/>
            <a:ext cx="5532120" cy="3657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185415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"/>
              </a:rPr>
              <a:t>INPUT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2478023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  bookings collection (tenant_id, appliance_id, dates)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2770631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  appliances collection (category, price, name)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063239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  Kaggle dataset (pre-training interaction data)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3419855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Segoe UI"/>
              </a:rPr>
              <a:t>TRAINING  (python manage.py train_recommender)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3712463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  Build item feature matrix from appliances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005071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  Compute cosine similarity matrix (scikit-learn)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297679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  Train SVD on booking interaction matrix (Surprise)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59028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  Save .pkl artifact for both models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94690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  <a:latin typeface="Segoe UI"/>
              </a:rPr>
              <a:t>INFERENCE  (called per API request)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523951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  Load .pkl — compute scores for this tenant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53212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  Blend content + SVD scores — take Top-N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88873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3C7C"/>
                </a:solidFill>
                <a:latin typeface="Segoe UI"/>
              </a:rPr>
              <a:t>OUTPUT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618134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  recommendation_logs collection updated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647395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  React Tenant Home shows 'Recommended for You'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54864"/>
          </a:xfrm>
          <a:prstGeom prst="rect">
            <a:avLst/>
          </a:prstGeom>
          <a:solidFill>
            <a:srgbClr val="E1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  <a:latin typeface="Segoe UI"/>
              </a:rPr>
              <a:t>SLIDE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AI Module 2  —  Demand Forecasting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5214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Segoe UI"/>
              </a:rPr>
              <a:t>How we plan to predict next 30 days of rental demand per appliance 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5577840" cy="5166360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Segoe UI Semibold"/>
              </a:rPr>
              <a:t>Step-by-Step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029968"/>
            <a:ext cx="5577840" cy="3657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39696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39696"/>
            <a:ext cx="64008" cy="71323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945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Segoe UI Semibold"/>
              </a:rPr>
              <a:t>1. Data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4688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Kaggle 'Retail Store Inventory &amp; Demand Forecasting'
dataset (atomicd) — categories relabeled to appliances.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07791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07791"/>
            <a:ext cx="64008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296265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 Semibold"/>
              </a:rPr>
              <a:t>2. Aggregate Bookings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236975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Query bookings collection. Group by category + week.
Count rentals per time period to form a time series.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75887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675887"/>
            <a:ext cx="64008" cy="71323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3730751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  <a:latin typeface="Segoe UI Semibold"/>
              </a:rPr>
              <a:t>3. Prophet Model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0050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Facebook Prophet time-series model trained separately
for each appliance category (AC, Fridge, TV etc.).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43983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443983"/>
            <a:ext cx="64008" cy="7132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498847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 Semibold"/>
              </a:rPr>
              <a:t>4. 30-Day Forecast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47731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Prophet predicts rental count for the next 30 days
per category. Output: date + predicted_units.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12079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212079"/>
            <a:ext cx="64008" cy="713232"/>
          </a:xfrm>
          <a:prstGeom prst="rect">
            <a:avLst/>
          </a:prstGeom>
          <a:solidFill>
            <a:srgbClr val="A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266943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B5CFF"/>
                </a:solidFill>
                <a:latin typeface="Segoe UI Semibold"/>
              </a:rPr>
              <a:t>5. Store Predictions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554126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Predictions written to demand_forecasts collection.
{category, forecast_date, predicted_units, model_version}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80176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980176"/>
            <a:ext cx="64008" cy="713232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603504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3C7C"/>
                </a:solidFill>
                <a:latin typeface="Segoe UI Semibold"/>
              </a:rPr>
              <a:t>6. Admin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6309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React admin sees Recharts line chart showing forecast.
Also shows revenue trends &amp; stock suggestions.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1572768"/>
            <a:ext cx="5532120" cy="5166360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164592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  <a:latin typeface="Segoe UI Semibold"/>
              </a:rPr>
              <a:t>What Admin &amp; Owner Will See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029968"/>
            <a:ext cx="5532120" cy="3657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2121408"/>
            <a:ext cx="5257800" cy="109728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2121408"/>
            <a:ext cx="64008" cy="10972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221284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  <a:latin typeface="Segoe UI Semibold"/>
              </a:rPr>
              <a:t>30-Day Demand Line Chart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2560320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X-axis: next 30 days
Y-axis: predicted rental units per category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310128"/>
            <a:ext cx="5257800" cy="109728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3310128"/>
            <a:ext cx="64008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340156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Segoe UI Semibold"/>
              </a:rPr>
              <a:t>Revenue Trend Bar Chart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3749039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Monthly revenue aggregated from bookings.total_amount
Grouped by category and month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498848"/>
            <a:ext cx="5257800" cy="109728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4498848"/>
            <a:ext cx="64008" cy="109728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459028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E"/>
                </a:solidFill>
                <a:latin typeface="Segoe UI Semibold"/>
              </a:rPr>
              <a:t>Stock Suggestion Panel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937760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If forecast &gt; threshold: 'Consider stocking more ACs'
Auto-generated insight from forecast data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5687568"/>
            <a:ext cx="5257800" cy="109728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5687568"/>
            <a:ext cx="64008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5779007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 Semibold"/>
              </a:rPr>
              <a:t>Occupancy Rate KPI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6126479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% of listed appliances currently booked
Computed live from bookings (status=active)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54864"/>
          </a:xfrm>
          <a:prstGeom prst="rect">
            <a:avLst/>
          </a:prstGeom>
          <a:solidFill>
            <a:srgbClr val="C21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3C7C"/>
                </a:solidFill>
                <a:latin typeface="Segoe UI"/>
              </a:rPr>
              <a:t>SLIDE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AI Module 3  —  Customer Churn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5214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Segoe UI"/>
              </a:rPr>
              <a:t>How we plan to identify tenants who are about to stop using the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5577840" cy="5166360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3C7C"/>
                </a:solidFill>
                <a:latin typeface="Segoe UI Semibold"/>
              </a:rPr>
              <a:t>Step-by-Step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029968"/>
            <a:ext cx="5577840" cy="3657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139696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39696"/>
            <a:ext cx="64008" cy="713232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945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3C7C"/>
                </a:solidFill>
                <a:latin typeface="Segoe UI Semibold"/>
              </a:rPr>
              <a:t>1. Data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4688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Kaggle 'Online Retail Customer Churn Dataset'
(hassaneskikri) — features adapted to rental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07791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07791"/>
            <a:ext cx="64008" cy="71323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296265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Segoe UI Semibold"/>
              </a:rPr>
              <a:t>2. RFM Feature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236975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From bookings collection, compute per tenant:
R = days since last booking
F = total number of bookings
M = total money spent (Rs)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75887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675887"/>
            <a:ext cx="64008" cy="71323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3730751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  <a:latin typeface="Segoe UI Semibold"/>
              </a:rPr>
              <a:t>3. Model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0050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Random Forest Classifier (scikit-learn) trained
on RFM features. Saves accuracy, precision, recall, F1.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43983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443983"/>
            <a:ext cx="64008" cy="7132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498847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 Semibold"/>
              </a:rPr>
              <a:t>4. Churn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47731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Each tenant's RFM computed from live bookings.
Model outputs risk_score (0.0 to 1.0) per tenant.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12079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212079"/>
            <a:ext cx="64008" cy="7132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266943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 Semibold"/>
              </a:rPr>
              <a:t>5. Threshold &amp; Label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554126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&lt; 0.3  -&gt;  Low risk (safe)
0.3 - 0.7  -&gt;  Medium (monitor)
&gt; 0.7  -&gt;  High (take action now)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80176"/>
            <a:ext cx="5394960" cy="71323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980176"/>
            <a:ext cx="64008" cy="713232"/>
          </a:xfrm>
          <a:prstGeom prst="rect">
            <a:avLst/>
          </a:prstGeom>
          <a:solidFill>
            <a:srgbClr val="A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603504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B5CFF"/>
                </a:solidFill>
                <a:latin typeface="Segoe UI Semibold"/>
              </a:rPr>
              <a:t>6. Store &amp; 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6309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Saved to churn_scores collection (tenant_id + score).
API: GET /api/churn/at-risk/  -&gt;  Admin table view.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1572768"/>
            <a:ext cx="5532120" cy="5166360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164592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3C7C"/>
                </a:solidFill>
                <a:latin typeface="Segoe UI Semibold"/>
              </a:rPr>
              <a:t>Understanding RFM Features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029968"/>
            <a:ext cx="5532120" cy="3657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2121408"/>
            <a:ext cx="5257800" cy="132588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2121408"/>
            <a:ext cx="64008" cy="1325880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221284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3C7C"/>
                </a:solidFill>
                <a:latin typeface="Segoe UI Semibold"/>
              </a:rPr>
              <a:t>R — Recency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2578608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Days since the tenant last made a booking.
Formula: today  -  MAX(bookings.created_at)
High recency = customer inactive for long = RISKY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538728"/>
            <a:ext cx="5257800" cy="132588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3538728"/>
            <a:ext cx="64008" cy="1325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363016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Segoe UI Semibold"/>
              </a:rPr>
              <a:t>F — Frequency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3995928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Total number of bookings the tenant has made.
Formula: COUNT(bookings WHERE tenant_id = X)
Low frequency = rare customer = RISKY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956048"/>
            <a:ext cx="5257800" cy="132588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4956048"/>
            <a:ext cx="64008" cy="13258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504748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  <a:latin typeface="Segoe UI Semibold"/>
              </a:rPr>
              <a:t>M — Monetary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413248"/>
            <a:ext cx="4983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Total amount the tenant has ever spent.
Formula: SUM(bookings.total_amount)
Low monetary = low-value customer = RISKY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6419088"/>
            <a:ext cx="5257800" cy="347472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73952" y="6464807"/>
            <a:ext cx="1627632" cy="237744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73952" y="6473952"/>
            <a:ext cx="16276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0C14"/>
                </a:solidFill>
                <a:latin typeface="Segoe UI"/>
              </a:rPr>
              <a:t>Low  &lt; 0.3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11312" y="6464807"/>
            <a:ext cx="1627632" cy="23774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11312" y="6473952"/>
            <a:ext cx="16276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0C14"/>
                </a:solidFill>
                <a:latin typeface="Segoe UI"/>
              </a:rPr>
              <a:t>Medium  0.3-0.7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48672" y="6464807"/>
            <a:ext cx="1627632" cy="237744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48672" y="6473952"/>
            <a:ext cx="16276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0C14"/>
                </a:solidFill>
                <a:latin typeface="Segoe UI"/>
              </a:rPr>
              <a:t>High  &gt; 0.7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54864"/>
          </a:xfrm>
          <a:prstGeom prst="rect">
            <a:avLst/>
          </a:prstGeom>
          <a:solidFill>
            <a:srgbClr val="00B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  <a:latin typeface="Segoe UI"/>
              </a:rPr>
              <a:t>SLIDE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End-to-End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5214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Segoe UI"/>
              </a:rPr>
              <a:t>From user action on screen all the way to MongoDB and AI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11338560" cy="1444752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72768"/>
            <a:ext cx="1133856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3677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0C14"/>
                </a:solidFill>
                <a:latin typeface="Segoe UI Semibold"/>
              </a:rPr>
              <a:t>FRONTEND  (React + Vite + Tailwind)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4825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048256"/>
            <a:ext cx="171907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16712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Register / Login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39" y="204825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7439" y="2048256"/>
            <a:ext cx="171907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1" y="216712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Tenant Home Page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204825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2048256"/>
            <a:ext cx="171907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216712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Browse Appliances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204825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79" y="2048256"/>
            <a:ext cx="171907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1" y="216712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Book Appliance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204825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2048256"/>
            <a:ext cx="171907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216712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Owner Dashboard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204825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20" y="2048256"/>
            <a:ext cx="171907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8672" y="216712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Admin BI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0358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050"/>
                </a:solidFill>
                <a:latin typeface="Segoe UI"/>
              </a:rPr>
              <a:t>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127248"/>
            <a:ext cx="11338560" cy="1444752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3127248"/>
            <a:ext cx="11338560" cy="38404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19125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0C14"/>
                </a:solidFill>
                <a:latin typeface="Segoe UI Semibold"/>
              </a:rPr>
              <a:t>REST API  (Django + DRF + JWT)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0273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602736"/>
            <a:ext cx="1719072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37216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POST /auth/register/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39" y="360273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77439" y="3602736"/>
            <a:ext cx="1719072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50591" y="37216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GET /appliances/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360273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51959" y="3602736"/>
            <a:ext cx="1719072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25112" y="37216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POST /bookings/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79" y="360273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79" y="3602736"/>
            <a:ext cx="1719072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1" y="37216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GET /recommend/&lt;id&gt;/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1000" y="360273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01000" y="3602736"/>
            <a:ext cx="1719072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4152" y="37216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GET /bi/dashboard/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75520" y="360273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0" y="3602736"/>
            <a:ext cx="1719072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48672" y="372160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GET /churn/at-risk/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45902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050"/>
                </a:solidFill>
                <a:latin typeface="Segoe UI"/>
              </a:rPr>
              <a:t>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681728"/>
            <a:ext cx="11338560" cy="1444752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4681728"/>
            <a:ext cx="11338560" cy="384048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474573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80C14"/>
                </a:solidFill>
                <a:latin typeface="Segoe UI Semibold"/>
              </a:rPr>
              <a:t>DATABASE  (MongoDB via MongoEngine)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15721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2920" y="5157216"/>
            <a:ext cx="1719072" cy="54864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" y="527608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users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77439" y="515721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377439" y="5157216"/>
            <a:ext cx="1719072" cy="54864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50591" y="527608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appliances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51959" y="515721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51959" y="5157216"/>
            <a:ext cx="1719072" cy="54864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25112" y="527608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bookings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79" y="515721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26479" y="5157216"/>
            <a:ext cx="1719072" cy="54864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99631" y="527608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recommendation_logs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01000" y="515721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001000" y="5157216"/>
            <a:ext cx="1719072" cy="54864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74152" y="527608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demand_forecasts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875520" y="5157216"/>
            <a:ext cx="1719072" cy="877824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0" y="5157216"/>
            <a:ext cx="1719072" cy="54864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48672" y="5276088"/>
            <a:ext cx="1572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0FE"/>
                </a:solidFill>
                <a:latin typeface="Segoe UI"/>
              </a:rPr>
              <a:t>churn_scores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1480" y="6263640"/>
            <a:ext cx="11338560" cy="475488"/>
          </a:xfrm>
          <a:prstGeom prst="rect">
            <a:avLst/>
          </a:prstGeom>
          <a:solidFill>
            <a:srgbClr val="0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11480" y="6263640"/>
            <a:ext cx="91440" cy="47548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94360" y="630936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300"/>
                </a:solidFill>
                <a:latin typeface="Segoe UI"/>
              </a:rPr>
              <a:t>AI LAYER  (Django management commands, run manually or on schedule):  train_recommender.py   |   train_forecast.py   |   train_churn.py   -&gt;  saves .pkl model artifacts  -&gt;  serves predictions via REST API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54864"/>
          </a:xfrm>
          <a:prstGeom prst="rect">
            <a:avLst/>
          </a:prstGeom>
          <a:solidFill>
            <a:srgbClr val="8D3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B5CFF"/>
                </a:solidFill>
                <a:latin typeface="Segoe UI"/>
              </a:rPr>
              <a:t>SLIDE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A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5214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Segoe UI"/>
              </a:rPr>
              <a:t>Every library and tool we plan to use and why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2788920" cy="5166360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72768"/>
            <a:ext cx="278892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6276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0C14"/>
                </a:solidFill>
                <a:latin typeface="Segoe UI Semibold"/>
              </a:rPr>
              <a:t>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21408"/>
            <a:ext cx="2788920" cy="74980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16712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 Semibold"/>
              </a:rPr>
              <a:t>React.js 18 + Vite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4688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Modern SPA framework with fast build tool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898648"/>
            <a:ext cx="2788920" cy="749808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29443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 Semibold"/>
              </a:rPr>
              <a:t>Tailwind 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Utility-first CSS for rapid UI development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75887"/>
            <a:ext cx="2788920" cy="74980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72160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 Semibold"/>
              </a:rPr>
              <a:t>Recharts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40233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Charts for Admin BI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453127"/>
            <a:ext cx="2788920" cy="749808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449884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 Semibold"/>
              </a:rPr>
              <a:t>Axios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48005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HTTP client for all REST API calls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230368"/>
            <a:ext cx="2788920" cy="74980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52760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 Semibold"/>
              </a:rPr>
              <a:t>React Router DOM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Client-side routing between pages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007608"/>
            <a:ext cx="2788920" cy="749808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6053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 Semibold"/>
              </a:rPr>
              <a:t>JWT (localStorage)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" y="6355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Store access token for authenticated requests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55848" y="1572768"/>
            <a:ext cx="2788920" cy="5166360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5848" y="1572768"/>
            <a:ext cx="2788920" cy="4572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5576" y="16276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0C14"/>
                </a:solidFill>
                <a:latin typeface="Segoe UI Semibold"/>
              </a:rPr>
              <a:t>Backend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55848" y="2121408"/>
            <a:ext cx="2788920" cy="74980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65576" y="216712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Segoe UI Semibold"/>
              </a:rPr>
              <a:t>Django 5.x + DRF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65576" y="24688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Python web framework + REST API layer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55848" y="2898648"/>
            <a:ext cx="2788920" cy="749808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65576" y="29443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Segoe UI Semibold"/>
              </a:rPr>
              <a:t>djangorestframework-simplejwt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65576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JWT access + refresh token auth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55848" y="3675887"/>
            <a:ext cx="2788920" cy="74980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65576" y="372160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Segoe UI Semibold"/>
              </a:rPr>
              <a:t>MongoEngine ODM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65576" y="40233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Object-Document Mapper for MongoDB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55848" y="4453127"/>
            <a:ext cx="2788920" cy="749808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65576" y="449884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Segoe UI Semibold"/>
              </a:rPr>
              <a:t>django-cors-headers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65576" y="48005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Allow React (port 5173) to call Django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55848" y="5230368"/>
            <a:ext cx="2788920" cy="74980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65576" y="52760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Segoe UI Semibold"/>
              </a:rPr>
              <a:t>Local media/ folder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65576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Store uploaded appliance images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55848" y="6007608"/>
            <a:ext cx="2788920" cy="749808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65576" y="6053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Segoe UI Semibold"/>
              </a:rPr>
              <a:t>Management commands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65576" y="6355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Trigger ML training manually via CLI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0216" y="1572768"/>
            <a:ext cx="2788920" cy="5166360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0216" y="1572768"/>
            <a:ext cx="2788920" cy="45720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9944" y="16276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0C14"/>
                </a:solidFill>
                <a:latin typeface="Segoe UI Semibold"/>
              </a:rPr>
              <a:t>Database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0216" y="2121408"/>
            <a:ext cx="2788920" cy="74980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9944" y="216712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  <a:latin typeface="Segoe UI Semibold"/>
              </a:rPr>
              <a:t>MongoDB  (NoSQL)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9944" y="24688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Flexible document store — no rigid schema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0216" y="2898648"/>
            <a:ext cx="2788920" cy="749808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9944" y="29443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  <a:latin typeface="Segoe UI Semibold"/>
              </a:rPr>
              <a:t>MongoEngine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9944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ORM-like layer to define Python document classes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0216" y="3675887"/>
            <a:ext cx="2788920" cy="74980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9944" y="372160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  <a:latin typeface="Segoe UI Semibold"/>
              </a:rPr>
              <a:t>MongoDB Atlas (free)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9944" y="40233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Cloud-hosted MongoDB for deployment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0216" y="4453127"/>
            <a:ext cx="2788920" cy="749808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9944" y="449884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  <a:latin typeface="Segoe UI Semibold"/>
              </a:rPr>
              <a:t>6 collections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9944" y="48005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users, appliances, bookings, 3 ML result docs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0216" y="5230368"/>
            <a:ext cx="2788920" cy="74980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9944" y="52760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  <a:latin typeface="Segoe UI Semibold"/>
              </a:rPr>
              <a:t>.env  MONGO_URI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9944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Connection string kept outside codebase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0216" y="6007608"/>
            <a:ext cx="2788920" cy="749808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9944" y="6053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  <a:latin typeface="Segoe UI Semibold"/>
              </a:rPr>
              <a:t>Auto indexes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9944" y="6355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On email, owner_id, tenant_id for fast lookups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44584" y="1572768"/>
            <a:ext cx="2788920" cy="5166360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244584" y="1572768"/>
            <a:ext cx="278892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54311" y="16276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0C14"/>
                </a:solidFill>
                <a:latin typeface="Segoe UI Semibold"/>
              </a:rPr>
              <a:t>AI / ML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44584" y="2121408"/>
            <a:ext cx="2788920" cy="74980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54311" y="216712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 Semibold"/>
              </a:rPr>
              <a:t>scikit-learn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54311" y="24688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Cosine similarity + Random Forest classifier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44584" y="2898648"/>
            <a:ext cx="2788920" cy="749808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354311" y="29443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 Semibold"/>
              </a:rPr>
              <a:t>Surprise (SVD)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54311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Collaborative filtering / matrix factorization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244584" y="3675887"/>
            <a:ext cx="2788920" cy="74980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54311" y="372160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 Semibold"/>
              </a:rPr>
              <a:t>Prophet (Facebook)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54311" y="40233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Time-series demand forecasting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44584" y="4453127"/>
            <a:ext cx="2788920" cy="749808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354311" y="449884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 Semibold"/>
              </a:rPr>
              <a:t>pandas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54311" y="48005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Data wrangling for Kaggle dataset preprocessing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244584" y="5230368"/>
            <a:ext cx="2788920" cy="749808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354311" y="52760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 Semibold"/>
              </a:rPr>
              <a:t>.pkl artifacts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54311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Trained model files — no retrain on every request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244584" y="6007608"/>
            <a:ext cx="2788920" cy="749808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354311" y="6053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 Semibold"/>
              </a:rPr>
              <a:t>3 Kaggle datasets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54311" y="6355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BB8"/>
                </a:solidFill>
                <a:latin typeface="Segoe UI"/>
              </a:rPr>
              <a:t>Real-world data for all 3 AI modules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54864"/>
          </a:xfrm>
          <a:prstGeom prst="rect">
            <a:avLst/>
          </a:prstGeom>
          <a:solidFill>
            <a:srgbClr val="00B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7E"/>
                </a:solidFill>
                <a:latin typeface="Segoe UI"/>
              </a:rPr>
              <a:t>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Conclusion &amp; 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78992"/>
            <a:ext cx="11338560" cy="36576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5214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8"/>
                </a:solidFill>
                <a:latin typeface="Segoe UI"/>
              </a:rPr>
              <a:t>Summary of what we plan to deliver and where this can go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5577840" cy="5166360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572768"/>
            <a:ext cx="109728" cy="5166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4592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Segoe UI Semibold"/>
              </a:rPr>
              <a:t>What We Plan to Deliver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29968"/>
            <a:ext cx="5577840" cy="3657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5303520" cy="105156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64008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24028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Segoe UI Semibold"/>
              </a:rPr>
              <a:t>Full-stack rental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58775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Working Tenant, Owner, Admin role-based system
with JWT auth and MongoDB 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64408"/>
            <a:ext cx="5303520" cy="105156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264408"/>
            <a:ext cx="64008" cy="105156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5584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  <a:latin typeface="Segoe UI Semibold"/>
              </a:rPr>
              <a:t>3 AI/ML modules integrated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7033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Recommendation Engine (Content-Based + SVD)
Demand Forecasting (Prophet) + Churn (Random Forest)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79976"/>
            <a:ext cx="5303520" cy="105156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379976"/>
            <a:ext cx="64008" cy="105156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47141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7E"/>
                </a:solidFill>
                <a:latin typeface="Segoe UI Semibold"/>
              </a:rPr>
              <a:t>Clean DBMS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81888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6 MongoDB collections, properly referenced
users -&gt; appliances -&gt; bookings -&gt; ML result docs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495544"/>
            <a:ext cx="5303520" cy="105156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495544"/>
            <a:ext cx="64008" cy="1051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586983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Segoe UI Semibold"/>
              </a:rPr>
              <a:t>Deployable full-stack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934456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E"/>
                </a:solidFill>
                <a:latin typeface="Segoe UI"/>
              </a:rPr>
              <a:t>Django REST backend + React frontend
Configured with .env for local/cloud deployment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572768"/>
            <a:ext cx="5532120" cy="5166360"/>
          </a:xfrm>
          <a:prstGeom prst="rect">
            <a:avLst/>
          </a:prstGeom>
          <a:solidFill>
            <a:srgbClr val="17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572768"/>
            <a:ext cx="109728" cy="516636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164592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7E"/>
                </a:solidFill>
                <a:latin typeface="Segoe UI Semibold"/>
              </a:rPr>
              <a:t>Future Enhancements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029968"/>
            <a:ext cx="5532120" cy="3657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2148840"/>
            <a:ext cx="5257800" cy="6858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148840"/>
            <a:ext cx="64008" cy="68580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2212848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7E"/>
                </a:solidFill>
                <a:latin typeface="Segoe UI Semibold"/>
              </a:rPr>
              <a:t>IoT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251460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Segoe UI"/>
              </a:rPr>
              <a:t>Track live appliance health and usage via sensors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898648"/>
            <a:ext cx="5257800" cy="6858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2898648"/>
            <a:ext cx="64008" cy="6858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2962656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  <a:latin typeface="Segoe UI Semibold"/>
              </a:rPr>
              <a:t>Dynamic AI Pricing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3264408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Segoe UI"/>
              </a:rPr>
              <a:t>Auto-adjust price_per_day using demand forecast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648456"/>
            <a:ext cx="5257800" cy="6858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3648456"/>
            <a:ext cx="64008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371246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 Semibold"/>
              </a:rPr>
              <a:t>Mobile App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4014216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Segoe UI"/>
              </a:rPr>
              <a:t>React Native app reusing the same Django REST API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398264"/>
            <a:ext cx="5257800" cy="6858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4398264"/>
            <a:ext cx="64008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01968" y="446227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Segoe UI Semibold"/>
              </a:rPr>
              <a:t>LLM Chat Assistant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1968" y="4764024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Segoe UI"/>
              </a:rPr>
              <a:t>'Which AC for my 2BHK?' — NLP-based recommendation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5148072"/>
            <a:ext cx="5257800" cy="6858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5148072"/>
            <a:ext cx="64008" cy="685800"/>
          </a:xfrm>
          <a:prstGeom prst="rect">
            <a:avLst/>
          </a:prstGeom>
          <a:solidFill>
            <a:srgbClr val="A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5212080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B5CFF"/>
                </a:solidFill>
                <a:latin typeface="Segoe UI Semibold"/>
              </a:rPr>
              <a:t>Razorpay Payments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01968" y="5513832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Segoe UI"/>
              </a:rPr>
              <a:t>Replace mock payments with real online gateway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5897879"/>
            <a:ext cx="5257800" cy="6858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0" y="5897879"/>
            <a:ext cx="64008" cy="685800"/>
          </a:xfrm>
          <a:prstGeom prst="rect">
            <a:avLst/>
          </a:prstGeom>
          <a:solidFill>
            <a:srgbClr val="E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01968" y="5961888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3C7C"/>
                </a:solidFill>
                <a:latin typeface="Segoe UI Semibold"/>
              </a:rPr>
              <a:t>Multi-city + Geo Search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62636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B8"/>
                </a:solidFill>
                <a:latin typeface="Segoe UI"/>
              </a:rPr>
              <a:t>Location-based appliance search across cities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