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" y="731520"/>
            <a:ext cx="9966960" cy="5394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731520"/>
            <a:ext cx="137160" cy="53949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100584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D4FF"/>
                </a:solidFill>
                <a:latin typeface="Calibri"/>
              </a:rPr>
              <a:t>SDC-II PROJECT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737360"/>
            <a:ext cx="8686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Calibri"/>
              </a:rPr>
              <a:t>AI-Powered Household
Appliance Rental Platform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3657600"/>
            <a:ext cx="3959352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384048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CCCCCC"/>
                </a:solidFill>
                <a:latin typeface="Calibri"/>
              </a:rPr>
              <a:t>Team Members: [Names] | Mentor: [Name]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4348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CCCCC"/>
                </a:solidFill>
                <a:latin typeface="Calibri"/>
              </a:rPr>
              <a:t>Academic Year 2025-26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49377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CCCCC"/>
                </a:solidFill>
                <a:latin typeface="Calibri"/>
              </a:rPr>
              <a:t>KMIT | B.Tech CSE | Semester 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FF"/>
                </a:solidFill>
                <a:latin typeface="Calibri"/>
              </a:rPr>
              <a:t>01  |  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85800"/>
            <a:ext cx="11430000" cy="54864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What Problem Are We Solving?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5394960" cy="48463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91440" cy="48463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4FF"/>
                </a:solidFill>
                <a:latin typeface="Calibri"/>
              </a:rPr>
              <a:t>Current Situation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❌  Buying appliances is expensive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     — especially for short-term residents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     — students, migrants, expats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❌  No smart rental platforms exist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     — current options are basic classifieds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     — no recommendations or intelligence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❌  Owners have no business insights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     — no way to predict demand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     — can't identify at-risk customers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554480"/>
            <a:ext cx="5486400" cy="48463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91440" cy="484632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E596"/>
                </a:solidFill>
                <a:latin typeface="Calibri"/>
              </a:rPr>
              <a:t>Our Proposed Solution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✅  Affordable access to appliances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     — pay per day, not full purchase price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✅  AI-powered personalization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     — smart recommendations for tenants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✅  Business Intelligence for owners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     — demand forecasting (30-day)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     — customer churn risk alerts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✅  Three-sided marketplace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     — Tenants, Owners, Admin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FF"/>
                </a:solidFill>
                <a:latin typeface="Calibri"/>
              </a:rPr>
              <a:t>02  |  BASE PAPER &amp; DATASETS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85800"/>
            <a:ext cx="11430000" cy="54864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Research Foundation &amp; Training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45920"/>
            <a:ext cx="11430000" cy="14630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645920"/>
            <a:ext cx="109728" cy="14630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D4FF"/>
                </a:solidFill>
                <a:latin typeface="Calibri"/>
              </a:rPr>
              <a:t>🤖  Recommendation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4884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  <a:latin typeface="Calibri"/>
              </a:rPr>
              <a:t>Kaggle: Personalized Recommendation Systems Dataset
(alfarisbachmid)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737360"/>
            <a:ext cx="5669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Content-based filtering + SVD collaborative filtering.
Categories relabeled to appliance types.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291840"/>
            <a:ext cx="11430000" cy="14630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3291840"/>
            <a:ext cx="109728" cy="14630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3832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Calibri"/>
              </a:rPr>
              <a:t>📈  Demand Forecasting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79476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  <a:latin typeface="Calibri"/>
              </a:rPr>
              <a:t>Kaggle: Retail Store Inventory and Demand Forecasting
(atomicd)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3383280"/>
            <a:ext cx="5669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Prophet time-series forecasting model. Predicts 30-day
rental demand per appliance category.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937760"/>
            <a:ext cx="11430000" cy="14630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4937760"/>
            <a:ext cx="109728" cy="146304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0292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E596"/>
                </a:solidFill>
                <a:latin typeface="Calibri"/>
              </a:rPr>
              <a:t>⚠️   Churn Prediction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44068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  <a:latin typeface="Calibri"/>
              </a:rPr>
              <a:t>Kaggle: Online Retail Customer Churn Dataset
(hassaneskikri)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5029200"/>
            <a:ext cx="5669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Random Forest classifier on RFM (Recency, Frequency,
Monetary) features. Outputs Low/Medium/High risk.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FF"/>
                </a:solidFill>
                <a:latin typeface="Calibri"/>
              </a:rPr>
              <a:t>03  |  PROPOSED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85800"/>
            <a:ext cx="11430000" cy="54864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What We Plan To Build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45920"/>
            <a:ext cx="3657600" cy="5029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645920"/>
            <a:ext cx="3657600" cy="5029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70992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A1A2E"/>
                </a:solidFill>
                <a:latin typeface="Calibri"/>
              </a:rPr>
              <a:t>👤  TENANT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3172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▸  Browse &amp; search appliances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33756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▸  View AI recommendations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34340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▸  Rent appliances online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34924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▸  Track booking status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645920"/>
            <a:ext cx="3657600" cy="5029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645920"/>
            <a:ext cx="3657600" cy="5029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170992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A1A2E"/>
                </a:solidFill>
                <a:latin typeface="Calibri"/>
              </a:rPr>
              <a:t>🏠  OWNER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33172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▸  List appliances with images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333756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▸  Set price &amp; availability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434340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▸  Approve/reject bookings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534924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▸  View demand forecasts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1645920"/>
            <a:ext cx="3657600" cy="5029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1645920"/>
            <a:ext cx="3657600" cy="50292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60" y="170992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A1A2E"/>
                </a:solidFill>
                <a:latin typeface="Calibri"/>
              </a:rPr>
              <a:t>🛡️  ADMIN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33172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▸  Manage all users &amp; listings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333756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▸  View BI dashboard &amp; charts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434340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▸  See at-risk customer list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534924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▸  Platform-wide control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6419088"/>
            <a:ext cx="11155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D4FF"/>
                </a:solidFill>
                <a:latin typeface="Calibri"/>
              </a:rPr>
              <a:t>🧠  AI Differentiator: Hybrid Recommendation Engine  +  Prophet Demand Forecasting  +  Random Forest Churn Prediction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FF"/>
                </a:solidFill>
                <a:latin typeface="Calibri"/>
              </a:rPr>
              <a:t>04  |  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85800"/>
            <a:ext cx="11430000" cy="54864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Planned Technical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45920"/>
            <a:ext cx="2651760" cy="5029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645920"/>
            <a:ext cx="2651760" cy="6400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1A2E"/>
                </a:solidFill>
                <a:latin typeface="Calibri"/>
              </a:rPr>
              <a:t>FRONTEND
(React + Vite)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23160"/>
            <a:ext cx="2377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• React.js 18
• Tailwind CSS
• Recharts
• Axios
• React Router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0" y="1645920"/>
            <a:ext cx="2651760" cy="5029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1645920"/>
            <a:ext cx="2651760" cy="6400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16916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1A2E"/>
                </a:solidFill>
                <a:latin typeface="Calibri"/>
              </a:rPr>
              <a:t>BACKEND
(Django REST)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79" y="2423160"/>
            <a:ext cx="2377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• Django 5.x
• DRF + SimpleJWT
• MongoEngine
• 6 Django Apps
• CORS Headers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0" y="1645920"/>
            <a:ext cx="2651760" cy="5029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0" y="1645920"/>
            <a:ext cx="2651760" cy="64008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16916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1A2E"/>
                </a:solidFill>
                <a:latin typeface="Calibri"/>
              </a:rPr>
              <a:t>DATABASE
(MongoDB)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2423160"/>
            <a:ext cx="2377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• User model
• Appliance model
• Booking model
• ML result docs
• Local media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92640" y="1645920"/>
            <a:ext cx="2651760" cy="5029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692640" y="1645920"/>
            <a:ext cx="2651760" cy="640080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0" y="16916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1A2E"/>
                </a:solidFill>
                <a:latin typeface="Calibri"/>
              </a:rPr>
              <a:t>ML MODULES
(Python)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29800" y="2423160"/>
            <a:ext cx="2377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• scikit-learn (SVD)
• Prophet (Forecast)
• Random Forest
• .pkl artifacts
• mgmt commands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63240" y="347472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0D4FF"/>
                </a:solidFill>
                <a:latin typeface="Calibri"/>
              </a:rPr>
              <a:t>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347472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0D4FF"/>
                </a:solidFill>
                <a:latin typeface="Calibri"/>
              </a:rPr>
              <a:t>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60" y="347472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0D4FF"/>
                </a:solidFill>
                <a:latin typeface="Calibri"/>
              </a:rPr>
              <a:t>⟷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FF"/>
                </a:solidFill>
                <a:latin typeface="Calibri"/>
              </a:rPr>
              <a:t>05  |  DATASET DETAILS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85800"/>
            <a:ext cx="11430000" cy="54864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Data Sources &amp; Feature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45920"/>
            <a:ext cx="11430000" cy="105156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FF"/>
                </a:solidFill>
                <a:latin typeface="Calibri"/>
              </a:rPr>
              <a:t>Module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17373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D4FF"/>
                </a:solidFill>
                <a:latin typeface="Calibri"/>
              </a:rPr>
              <a:t>Kaggle Dataset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173736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D4FF"/>
                </a:solidFill>
                <a:latin typeface="Calibri"/>
              </a:rPr>
              <a:t>Key Features Used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0" y="173736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D4FF"/>
                </a:solidFill>
                <a:latin typeface="Calibri"/>
              </a:rPr>
              <a:t>Target Output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743200"/>
            <a:ext cx="11430000" cy="1051560"/>
          </a:xfrm>
          <a:prstGeom prst="rect">
            <a:avLst/>
          </a:prstGeom>
          <a:solidFill>
            <a:srgbClr val="0D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83464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  <a:latin typeface="Calibri"/>
              </a:rPr>
              <a:t>Recommendations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283464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  <a:latin typeface="Calibri"/>
              </a:rPr>
              <a:t>Personalized Recommendation
Systems (alfarisbachmid)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83464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  <a:latin typeface="Calibri"/>
              </a:rPr>
              <a:t>User interactions, item categories,
brand, price per 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283464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  <a:latin typeface="Calibri"/>
              </a:rPr>
              <a:t>Recommended appliances
for each tenant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840480"/>
            <a:ext cx="11430000" cy="1051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93192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  <a:latin typeface="Calibri"/>
              </a:rPr>
              <a:t>Demand Forecast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393192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  <a:latin typeface="Calibri"/>
              </a:rPr>
              <a:t>Retail Store Inventory &amp;
Demand Forecasting (atomicd)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393192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  <a:latin typeface="Calibri"/>
              </a:rPr>
              <a:t>Date, category, historical sales,
stock level, demand signals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393192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  <a:latin typeface="Calibri"/>
              </a:rPr>
              <a:t>30-day predicted
rental demand/category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937760"/>
            <a:ext cx="11430000" cy="1051560"/>
          </a:xfrm>
          <a:prstGeom prst="rect">
            <a:avLst/>
          </a:prstGeom>
          <a:solidFill>
            <a:srgbClr val="0D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0292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  <a:latin typeface="Calibri"/>
              </a:rPr>
              <a:t>Churn Prediction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502920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  <a:latin typeface="Calibri"/>
              </a:rPr>
              <a:t>Online Retail Customer
Churn (hassaneskikri)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0" y="502920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  <a:latin typeface="Calibri"/>
              </a:rPr>
              <a:t>Recency (days since booking),
Frequency (# bookings), Monetary (₹)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502920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  <a:latin typeface="Calibri"/>
              </a:rPr>
              <a:t>Churn risk score:
Low / Medium / High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0807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D700"/>
                </a:solidFill>
                <a:latin typeface="Calibri"/>
              </a:rPr>
              <a:t>📌  All Kaggle datasets will undergo category relabeling to match appliance types (AC, Fridge, Washing Machine, Microwave, TV)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FF"/>
                </a:solidFill>
                <a:latin typeface="Calibri"/>
              </a:rPr>
              <a:t>06  |  PROJECT INPUTS &amp;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85800"/>
            <a:ext cx="11430000" cy="54864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End-to-End Data &amp; Application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554480"/>
            <a:ext cx="2011680" cy="20116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60020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A1A2E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423160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1A2E"/>
                </a:solidFill>
                <a:latin typeface="Calibri"/>
              </a:rPr>
              <a:t>USER
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50008" y="2194560"/>
            <a:ext cx="2926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0D4FF"/>
                </a:solidFill>
                <a:latin typeface="Calibri"/>
              </a:rPr>
              <a:t>▶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749039"/>
            <a:ext cx="2011680" cy="2834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3749039"/>
            <a:ext cx="201168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3886200"/>
            <a:ext cx="1828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Tenant browses, searches, books
Owner lists appliances
Admin monitors platform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51760" y="1554480"/>
            <a:ext cx="2011680" cy="20116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51760" y="160020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A1A2E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2423160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1A2E"/>
                </a:solidFill>
                <a:latin typeface="Calibri"/>
              </a:rPr>
              <a:t>REST
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1728" y="2194560"/>
            <a:ext cx="2926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0D4FF"/>
                </a:solidFill>
                <a:latin typeface="Calibri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51760" y="3749039"/>
            <a:ext cx="2011680" cy="2834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51760" y="3749039"/>
            <a:ext cx="2011680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0" y="3886200"/>
            <a:ext cx="1828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React → Axios → Django REST
Endpoints secured with JWT
Role-based permissions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83479" y="1554480"/>
            <a:ext cx="2011680" cy="201168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83479" y="160020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A1A2E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83479" y="2423160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1A2E"/>
                </a:solidFill>
                <a:latin typeface="Calibri"/>
              </a:rPr>
              <a:t>BUSINESS
LOGIC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13448" y="2194560"/>
            <a:ext cx="2926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0D4FF"/>
                </a:solidFill>
                <a:latin typeface="Calibri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83479" y="3749039"/>
            <a:ext cx="2011680" cy="2834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83479" y="3749039"/>
            <a:ext cx="2011680" cy="7315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74919" y="3886200"/>
            <a:ext cx="1828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Django apps handle CRUD
Booking state machine
Image storage (local media)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199" y="1554480"/>
            <a:ext cx="2011680" cy="2011680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199" y="160020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A1A2E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199" y="2423160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1A2E"/>
                </a:solidFill>
                <a:latin typeface="Calibri"/>
              </a:rPr>
              <a:t>ML
PROCESSING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45167" y="2194560"/>
            <a:ext cx="2926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0D4FF"/>
                </a:solidFill>
                <a:latin typeface="Calibri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199" y="3749039"/>
            <a:ext cx="2011680" cy="2834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15199" y="3749039"/>
            <a:ext cx="2011680" cy="73152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06640" y="3886200"/>
            <a:ext cx="1828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SVD recommendations
Prophet demand forecast
RF churn prediction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46919" y="1554480"/>
            <a:ext cx="2011680" cy="2011680"/>
          </a:xfrm>
          <a:prstGeom prst="rect">
            <a:avLst/>
          </a:prstGeom>
          <a:solidFill>
            <a:srgbClr val="FF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46919" y="160020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A1A2E"/>
                </a:solidFill>
                <a:latin typeface="Calibri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46919" y="2423160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1A2E"/>
                </a:solidFill>
                <a:latin typeface="Calibri"/>
              </a:rPr>
              <a:t>OUTPUT &amp;
UI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46919" y="3749039"/>
            <a:ext cx="2011680" cy="2834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646919" y="3749039"/>
            <a:ext cx="2011680" cy="73152"/>
          </a:xfrm>
          <a:prstGeom prst="rect">
            <a:avLst/>
          </a:prstGeom>
          <a:solidFill>
            <a:srgbClr val="FF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38359" y="3886200"/>
            <a:ext cx="1828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Personalized tenant home
BI charts for admin
At-risk customer alerts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FF"/>
                </a:solidFill>
                <a:latin typeface="Calibri"/>
              </a:rPr>
              <a:t>07  |  TARGET USERS &amp; STAKEHOLDERS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85800"/>
            <a:ext cx="11430000" cy="54864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Who Will Use This Platform?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3657600" cy="5120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600200"/>
            <a:ext cx="3657600" cy="10058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6459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1A1A2E"/>
                </a:solidFill>
                <a:latin typeface="Calibri"/>
              </a:rPr>
              <a:t>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17627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1A2E"/>
                </a:solidFill>
                <a:latin typeface="Calibri"/>
              </a:rPr>
              <a:t>TENANTS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7432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D4FF"/>
                </a:solidFill>
                <a:latin typeface="Calibri"/>
              </a:rPr>
              <a:t>Primary Users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10896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Students &amp; College Residents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93192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Short-term migrants &amp; Expats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75488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Working professionals in PGs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57784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Anyone who needs appliances
without the cost of buying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1600200"/>
            <a:ext cx="3657600" cy="5120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1600200"/>
            <a:ext cx="3657600" cy="10058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16459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1A1A2E"/>
                </a:solidFill>
                <a:latin typeface="Calibri"/>
              </a:rPr>
              <a:t>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217627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1A2E"/>
                </a:solidFill>
                <a:latin typeface="Calibri"/>
              </a:rPr>
              <a:t>OWNERS / VENDORS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27432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D4FF"/>
                </a:solidFill>
                <a:latin typeface="Calibri"/>
              </a:rPr>
              <a:t>Secondary Users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310896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Home owners with idle appliances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393192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Small appliance rental businesses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475488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Want to monetize assets easily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557784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Need demand insights &amp; forecasts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1600200"/>
            <a:ext cx="3657600" cy="5120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1600200"/>
            <a:ext cx="3657600" cy="100584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16459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1A1A2E"/>
                </a:solidFill>
                <a:latin typeface="Calibri"/>
              </a:rPr>
              <a:t>🛡️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217627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1A2E"/>
                </a:solidFill>
                <a:latin typeface="Calibri"/>
              </a:rPr>
              <a:t>ADMIN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27432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D4FF"/>
                </a:solidFill>
                <a:latin typeface="Calibri"/>
              </a:rPr>
              <a:t>Platform Operator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310896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KMIT / Project evaluators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393192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Manages the entire platform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475488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Access to AI business intelligence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557784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Can deactivate users &amp; listings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FF"/>
                </a:solidFill>
                <a:latin typeface="Calibri"/>
              </a:rPr>
              <a:t>08  |  DEVELOPMENT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85800"/>
            <a:ext cx="11430000" cy="54864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Phased Implementation 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45920"/>
            <a:ext cx="3657600" cy="15544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645920"/>
            <a:ext cx="109728" cy="15544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7373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D4FF"/>
                </a:solidFill>
                <a:latin typeface="Calibri"/>
              </a:rPr>
              <a:t>Phase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Project Scaffolding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2316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  <a:latin typeface="Calibri"/>
              </a:rPr>
              <a:t>Django + React setup, MongoDB connection, env config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645920"/>
            <a:ext cx="3657600" cy="15544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645920"/>
            <a:ext cx="109728" cy="15544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7373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D700"/>
                </a:solidFill>
                <a:latin typeface="Calibri"/>
              </a:rPr>
              <a:t>Phase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0574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Authentication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42316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  <a:latin typeface="Calibri"/>
              </a:rPr>
              <a:t>JWT login/register, 3-role system (Admin/Owner/Tenant)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645920"/>
            <a:ext cx="3657600" cy="15544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645920"/>
            <a:ext cx="109728" cy="155448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58200" y="17373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E596"/>
                </a:solidFill>
                <a:latin typeface="Calibri"/>
              </a:rPr>
              <a:t>Phase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20574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Appliance Catalog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242316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  <a:latin typeface="Calibri"/>
              </a:rPr>
              <a:t>CRUD for listings, image upload, search &amp; filter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337560"/>
            <a:ext cx="3657600" cy="15544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3337560"/>
            <a:ext cx="109728" cy="1554480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34290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7700"/>
                </a:solidFill>
                <a:latin typeface="Calibri"/>
              </a:rPr>
              <a:t>Phase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7490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Booking Flow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411480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  <a:latin typeface="Calibri"/>
              </a:rPr>
              <a:t>Request → Approve → Active → Returned state machine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97680" y="3337560"/>
            <a:ext cx="3657600" cy="15544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97680" y="3337560"/>
            <a:ext cx="109728" cy="1554480"/>
          </a:xfrm>
          <a:prstGeom prst="rect">
            <a:avLst/>
          </a:prstGeom>
          <a:solidFill>
            <a:srgbClr val="FF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26280" y="34290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4080"/>
                </a:solidFill>
                <a:latin typeface="Calibri"/>
              </a:rPr>
              <a:t>Phase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80" y="37490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Admin Panel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411480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  <a:latin typeface="Calibri"/>
              </a:rPr>
              <a:t>User management, listing moderation, dashboard shell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3337560"/>
            <a:ext cx="3657600" cy="15544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0" y="3337560"/>
            <a:ext cx="109728" cy="15544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58200" y="34290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D4FF"/>
                </a:solidFill>
                <a:latin typeface="Calibri"/>
              </a:rPr>
              <a:t>Phase 5a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58200" y="37490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Recommendation AI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58200" y="411480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  <a:latin typeface="Calibri"/>
              </a:rPr>
              <a:t>Kaggle dataset + Cosine Similarity + SVD model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5029200"/>
            <a:ext cx="3657600" cy="15544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65760" y="5029200"/>
            <a:ext cx="109728" cy="15544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" y="51206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D700"/>
                </a:solidFill>
                <a:latin typeface="Calibri"/>
              </a:rPr>
              <a:t>Phase 5b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54406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Demand Forecasting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" y="580644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  <a:latin typeface="Calibri"/>
              </a:rPr>
              <a:t>Kaggle dataset + Prophet model + BI charts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97680" y="5029200"/>
            <a:ext cx="3657600" cy="15544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297680" y="5029200"/>
            <a:ext cx="109728" cy="155448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26280" y="51206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E596"/>
                </a:solidFill>
                <a:latin typeface="Calibri"/>
              </a:rPr>
              <a:t>Phase 5c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26280" y="54406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Churn Prediction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26280" y="580644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  <a:latin typeface="Calibri"/>
              </a:rPr>
              <a:t>Kaggle dataset + Random Forest + at-risk customer list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29600" y="5029200"/>
            <a:ext cx="3657600" cy="15544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229600" y="5029200"/>
            <a:ext cx="109728" cy="15544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458200" y="51206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CCCC"/>
                </a:solidFill>
                <a:latin typeface="Calibri"/>
              </a:rPr>
              <a:t>Phase 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58200" y="54406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Polish &amp; Testing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58200" y="580644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  <a:latin typeface="Calibri"/>
              </a:rPr>
              <a:t>Error handling, UI polish, README, final testing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FF"/>
                </a:solidFill>
                <a:latin typeface="Calibri"/>
              </a:rPr>
              <a:t>09  |  EXPECTED OUTPUTS &amp;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85800"/>
            <a:ext cx="11430000" cy="54864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What Will Our System Produce?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3566160" cy="3657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600200"/>
            <a:ext cx="3566160" cy="5029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6420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1A2E"/>
                </a:solidFill>
                <a:latin typeface="Calibri"/>
              </a:rPr>
              <a:t>📱  Tenant Portal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40280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Personalized 'Recommended for You' section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200400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Smart search with category &amp; price filters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160520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Real-time booking status tracker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600200"/>
            <a:ext cx="3566160" cy="3657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600200"/>
            <a:ext cx="3566160" cy="5029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66420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1A2E"/>
                </a:solidFill>
                <a:latin typeface="Calibri"/>
              </a:rPr>
              <a:t>💼  Owner 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240280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30-day demand forecast charts (per category)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3200400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Revenue trend visualization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4160520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Occupancy rate &amp; stock suggestions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1600200"/>
            <a:ext cx="3566160" cy="3657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1600200"/>
            <a:ext cx="3566160" cy="50292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166420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1A2E"/>
                </a:solidFill>
                <a:latin typeface="Calibri"/>
              </a:rPr>
              <a:t>🛡️  Admin BI 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2240280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At-risk customer list with churn risk scores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3200400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Platform-wide analytics &amp; user management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4160520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AI-generated business intelligence reports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394960"/>
            <a:ext cx="11430000" cy="132588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46811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D4FF"/>
                </a:solidFill>
                <a:latin typeface="Calibri"/>
              </a:rPr>
              <a:t>📊  Expected ML Metrics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89788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Recommendation: High relevance score (RMSE &lt; 1.0)  |  Demand Forecast: Low MAE on test set  |  Churn Prediction: Accuracy &gt; 80%, F1 &gt; 0.75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FF"/>
                </a:solidFill>
                <a:latin typeface="Calibri"/>
              </a:rPr>
              <a:t>10  |  CONCLUSION &amp; FUTURE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85800"/>
            <a:ext cx="11430000" cy="54864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What We Aim to Achieve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5394960" cy="5120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600200"/>
            <a:ext cx="109728" cy="51206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916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4FF"/>
                </a:solidFill>
                <a:latin typeface="Calibri"/>
              </a:rPr>
              <a:t>🎯  Project Impact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40280"/>
            <a:ext cx="5029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✅  Democratize access to expensive appliances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✅  Create a smart, AI-enhanced rental marketplace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✅  Provide real business intelligence for owners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✅  Demonstrate real-world application of:
     — Content-Based + Collaborative Filtering
     — Time-Series Forecasting (Prophet)
     — Classification ML (Random Forest)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✅  Build a production-grade full-stack app
     with Django, React, and MongoDB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600200"/>
            <a:ext cx="5486400" cy="5120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600200"/>
            <a:ext cx="109728" cy="512064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6916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E596"/>
                </a:solidFill>
                <a:latin typeface="Calibri"/>
              </a:rPr>
              <a:t>🚀  Future Enhancements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240280"/>
            <a:ext cx="5212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🔮  IoT Integration for live appliance tracking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💰  Dynamic AI pricing based on real-time demand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📱  Mobile application (React Native)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💬  In-app chat between owner and tenant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🌍  Multi-city expansion with geo-based search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🤖  LLM-powered chat assistant for recommendations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